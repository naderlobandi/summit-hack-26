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8" r:id="rId6"/>
    <p:sldId id="261" r:id="rId7"/>
    <p:sldId id="262" r:id="rId8"/>
    <p:sldId id="263" r:id="rId9"/>
    <p:sldId id="264" r:id="rId10"/>
    <p:sldId id="269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5685"/>
  </p:normalViewPr>
  <p:slideViewPr>
    <p:cSldViewPr snapToGrid="0" snapToObjects="1">
      <p:cViewPr varScale="1">
        <p:scale>
          <a:sx n="54" d="100"/>
          <a:sy n="54" d="100"/>
        </p:scale>
        <p:origin x="3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i="1" dirty="0"/>
              <a:t>Now the decision layer — this is the brain of the system.</a:t>
            </a:r>
            <a:endParaRPr lang="en-US" dirty="0"/>
          </a:p>
          <a:p>
            <a:r>
              <a:rPr lang="en-US" i="1" dirty="0"/>
              <a:t>Perception gives us a structured fact sheet about the hardware. Sustainability gives us the impact numbers. But neither of those tells you what to actually do with the device. That's the gap </a:t>
            </a:r>
            <a:r>
              <a:rPr lang="en-US" i="1" dirty="0" err="1"/>
              <a:t>decision.py</a:t>
            </a:r>
            <a:r>
              <a:rPr lang="en-US" i="1" dirty="0"/>
              <a:t> fills.</a:t>
            </a:r>
          </a:p>
          <a:p>
            <a:endParaRPr lang="en-US" dirty="0"/>
          </a:p>
          <a:p>
            <a:r>
              <a:rPr lang="en-US" i="1" dirty="0"/>
              <a:t>Here's how it works. We start with a default action from the sustainability data — every component category has one. A GPU defaults to refurbish-and-resell. An SSD defaults to secure-wipe-then-refurbish.</a:t>
            </a:r>
          </a:p>
          <a:p>
            <a:endParaRPr lang="en-US" dirty="0"/>
          </a:p>
          <a:p>
            <a:r>
              <a:rPr lang="en-US" i="1" dirty="0"/>
              <a:t>Then we apply seven safety rules in priority order. </a:t>
            </a:r>
          </a:p>
          <a:p>
            <a:r>
              <a:rPr lang="en-US" i="1" dirty="0"/>
              <a:t>Low confidence flips to manual review. </a:t>
            </a:r>
          </a:p>
          <a:p>
            <a:r>
              <a:rPr lang="en-US" i="1" dirty="0"/>
              <a:t>Detected hazards force hazardous handling. </a:t>
            </a:r>
          </a:p>
          <a:p>
            <a:r>
              <a:rPr lang="en-US" i="1" dirty="0"/>
              <a:t>Damaged condition downgrades refurbish paths to metals recovery — and if the device is data-bearing, it routes to secure destroy instead. Missing major parts blocks refurbishment. </a:t>
            </a:r>
          </a:p>
          <a:p>
            <a:r>
              <a:rPr lang="en-US" i="1" dirty="0"/>
              <a:t>And a final safety net catches any data-bearing device that somehow ended up at plain resale and forces the wipe step.</a:t>
            </a:r>
          </a:p>
          <a:p>
            <a:endParaRPr lang="en-US" dirty="0"/>
          </a:p>
          <a:p>
            <a:r>
              <a:rPr lang="en-US" i="1" dirty="0"/>
              <a:t>Every rule that fires gets logged. So when the system recommends "secure wipe then refurbish" for an SSD, we don't just show the answer — we show the trace: 'started with SSD default, applied rule R7 because data-bearing equals true.' Every decision is auditable.</a:t>
            </a:r>
            <a:endParaRPr lang="en-US" dirty="0"/>
          </a:p>
          <a:p>
            <a:r>
              <a:rPr lang="en-US" i="1" dirty="0"/>
              <a:t>This matters because in a real recycling depot, you can't just trust a black box. You need to defend the call. The rule trace IS the audit trail."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4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>
                <a:effectLst/>
              </a:rPr>
              <a:t>Spotware</a:t>
            </a:r>
            <a:r>
              <a:rPr lang="en-US" i="1" dirty="0">
                <a:effectLst/>
              </a:rPr>
              <a:t> was built in 24 hours. But it's a slice of a much larger research program that's already designed.</a:t>
            </a:r>
            <a:endParaRPr lang="en-US" dirty="0">
              <a:effectLst/>
            </a:endParaRPr>
          </a:p>
          <a:p>
            <a:r>
              <a:rPr lang="en-US" i="1" dirty="0">
                <a:effectLst/>
              </a:rPr>
              <a:t>Three extensions.</a:t>
            </a:r>
            <a:endParaRPr lang="en-US" dirty="0">
              <a:effectLst/>
            </a:endParaRPr>
          </a:p>
          <a:p>
            <a:r>
              <a:rPr lang="en-US" i="1" dirty="0">
                <a:effectLst/>
              </a:rPr>
              <a:t>First — replace the foundation model with a custom vision pipeline. A YOLO detector for localization plus a </a:t>
            </a:r>
            <a:r>
              <a:rPr lang="en-US" i="1" dirty="0" err="1">
                <a:effectLst/>
              </a:rPr>
              <a:t>ConvNeXt</a:t>
            </a:r>
            <a:r>
              <a:rPr lang="en-US" i="1" dirty="0">
                <a:effectLst/>
              </a:rPr>
              <a:t> classifier trained specifically on data-center hardware. Faster inference, better handling of cluttered scenes — a server rack with eight GPUs in one frame, broken components, stacked devices.</a:t>
            </a:r>
            <a:endParaRPr lang="en-US" dirty="0">
              <a:effectLst/>
            </a:endParaRPr>
          </a:p>
          <a:p>
            <a:r>
              <a:rPr lang="en-US" i="1" dirty="0">
                <a:effectLst/>
              </a:rPr>
              <a:t>Second — add a text perception branch. Right now vision alone struggles when two GPUs look identical but their labels read 'H100' versus 'A100.' A parallel pipeline of scene-text detection and recognition would read the printed model number directly. Same for FCC IDs, brand logos, capacity stickers. Vision and text fused into one decision.</a:t>
            </a:r>
            <a:endParaRPr lang="en-US" dirty="0">
              <a:effectLst/>
            </a:endParaRPr>
          </a:p>
          <a:p>
            <a:r>
              <a:rPr lang="en-US" i="1" dirty="0">
                <a:effectLst/>
              </a:rPr>
              <a:t>Third — fine-tune on a crawled dataset. Manufacturer product pages, eBay listings, decommissioning communities — all unified under the UN's e-waste taxonomy. With a continual learning loop that incorporates human-corrected edge cases from production.</a:t>
            </a:r>
            <a:endParaRPr lang="en-US" dirty="0">
              <a:effectLst/>
            </a:endParaRPr>
          </a:p>
          <a:p>
            <a:r>
              <a:rPr lang="en-US" i="1" dirty="0" err="1">
                <a:effectLst/>
              </a:rPr>
              <a:t>Spotware</a:t>
            </a:r>
            <a:r>
              <a:rPr lang="en-US" i="1" dirty="0">
                <a:effectLst/>
              </a:rPr>
              <a:t> today is a working prototype. </a:t>
            </a:r>
            <a:r>
              <a:rPr lang="en-US" i="1" dirty="0" err="1">
                <a:effectLst/>
              </a:rPr>
              <a:t>Spotware</a:t>
            </a:r>
            <a:r>
              <a:rPr lang="en-US" i="1" dirty="0">
                <a:effectLst/>
              </a:rPr>
              <a:t> tomorrow is a research-grade system.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2377440"/>
            <a:ext cx="146304" cy="146304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338560" y="3108960"/>
            <a:ext cx="91440" cy="91440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875520" y="3840480"/>
            <a:ext cx="109728" cy="109728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81360" y="4572000"/>
            <a:ext cx="128016" cy="128016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0" y="5303520"/>
            <a:ext cx="91440" cy="91440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155680" y="5577840"/>
            <a:ext cx="118872" cy="118872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961120" y="2011680"/>
            <a:ext cx="82296" cy="82296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41280" y="1737360"/>
            <a:ext cx="100584" cy="100584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44000" y="5852160"/>
            <a:ext cx="91440" cy="91440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21440" y="2194560"/>
            <a:ext cx="109728" cy="109728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0" y="4297680"/>
            <a:ext cx="91440" cy="91440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698480" y="3840480"/>
            <a:ext cx="82296" cy="82296"/>
          </a:xfrm>
          <a:prstGeom prst="ellipse">
            <a:avLst/>
          </a:prstGeom>
          <a:solidFill>
            <a:srgbClr val="3D6B4D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188720" cy="1188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2A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SUMMIT HACK 26  ·  SUSTAINABILITY TRACK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7492" y="1314525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7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Spotware</a:t>
            </a:r>
            <a:endParaRPr lang="en-US" sz="9600" dirty="0"/>
          </a:p>
        </p:txBody>
      </p:sp>
      <p:sp>
        <p:nvSpPr>
          <p:cNvPr id="17" name="Text 14"/>
          <p:cNvSpPr/>
          <p:nvPr/>
        </p:nvSpPr>
        <p:spPr>
          <a:xfrm>
            <a:off x="640080" y="2714663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 at a piece of hardware.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its carbon footprint, recovery value, and a safe disposal action.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" y="6035040"/>
            <a:ext cx="365760" cy="36576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0972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sustainability assistant  ·  built in 24 hours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34E7BF2-A00B-5186-93B9-10ED41C016DC}"/>
              </a:ext>
            </a:extLst>
          </p:cNvPr>
          <p:cNvSpPr/>
          <p:nvPr/>
        </p:nvSpPr>
        <p:spPr>
          <a:xfrm>
            <a:off x="640080" y="4023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Spotters: Nader Lobandi, Andrew Ehrig, James Vescovo, Jaxon Packer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E-waste is the world's fastest-growing solid waste stream — and most of it is misrouted.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017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3152" cy="2377440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 Mt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e-waste in 2022 — up 82% since 2010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377440"/>
            <a:ext cx="3017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73152" cy="2377440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2606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 B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84632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recoverable metals in the annual stream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2377440"/>
            <a:ext cx="3017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03920" y="2377440"/>
            <a:ext cx="73152" cy="2377440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778240" y="2606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22.3%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77824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recycling rate worldwide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120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300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recycling capacity. It's the moment someone holds a device and asks: "is this worth saving — and how?"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E-waste Monitor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Spotware turns a phone camera into a triage tool for e-waste.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194560"/>
            <a:ext cx="3611880" cy="3108960"/>
          </a:xfrm>
          <a:prstGeom prst="rect">
            <a:avLst/>
          </a:prstGeom>
          <a:solidFill>
            <a:srgbClr val="284A38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46888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or use the webcam. No login, no manual data entry.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51960" y="2194560"/>
            <a:ext cx="3611880" cy="3108960"/>
          </a:xfrm>
          <a:prstGeom prst="rect">
            <a:avLst/>
          </a:prstGeom>
          <a:solidFill>
            <a:srgbClr val="284A38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262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468880"/>
            <a:ext cx="777240" cy="777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26280" y="4023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returns strict JSON: device class, condition, hazards, confidence.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611880" cy="3108960"/>
          </a:xfrm>
          <a:prstGeom prst="rect">
            <a:avLst/>
          </a:prstGeom>
          <a:solidFill>
            <a:srgbClr val="284A38"/>
          </a:solidFill>
          <a:ln/>
          <a:effectLst>
            <a:outerShdw blurRad="1778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84124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A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468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412480" y="4023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CO₂, recoverable value, and a clear action — refurbish, recycle, or review.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unidentified object on a desk to a defensible disposal decision — in under a minute.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2A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layers. Each replaceable.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contracts between layers — perception, sustainability, and decision logic talk through normalized JSON.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25880" y="2377440"/>
            <a:ext cx="10241280" cy="868680"/>
          </a:xfrm>
          <a:prstGeom prst="rect">
            <a:avLst/>
          </a:prstGeom>
          <a:solidFill>
            <a:srgbClr val="284A3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786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2860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2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user input · renders cards · holds chat history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25880" y="3383280"/>
            <a:ext cx="10241280" cy="868680"/>
          </a:xfrm>
          <a:prstGeom prst="rect">
            <a:avLst/>
          </a:prstGeom>
          <a:solidFill>
            <a:srgbClr val="284A3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58444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8600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perception.py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2860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2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(Gemini VLM)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63840" y="3639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strict JSON · 12 required keys · validated &amp; coerced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325880" y="5394960"/>
            <a:ext cx="10241280" cy="868680"/>
          </a:xfrm>
          <a:prstGeom prst="rect">
            <a:avLst/>
          </a:prstGeom>
          <a:solidFill>
            <a:srgbClr val="284A3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59612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286000" y="5486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decision.py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228600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2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from previous analysis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863840" y="5650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safety gates · UI-ready recommendation · audit trace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64008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158E2F-1F0E-E5E4-134F-F34EA7A8C727}"/>
              </a:ext>
            </a:extLst>
          </p:cNvPr>
          <p:cNvGrpSpPr/>
          <p:nvPr/>
        </p:nvGrpSpPr>
        <p:grpSpPr>
          <a:xfrm>
            <a:off x="1325880" y="4389120"/>
            <a:ext cx="10241280" cy="868680"/>
            <a:chOff x="1097280" y="246888"/>
            <a:chExt cx="10241280" cy="868680"/>
          </a:xfrm>
        </p:grpSpPr>
        <p:sp>
          <p:nvSpPr>
            <p:cNvPr id="28" name="Shape 23"/>
            <p:cNvSpPr/>
            <p:nvPr/>
          </p:nvSpPr>
          <p:spPr>
            <a:xfrm>
              <a:off x="1097280" y="246888"/>
              <a:ext cx="10241280" cy="868680"/>
            </a:xfrm>
            <a:prstGeom prst="rect">
              <a:avLst/>
            </a:prstGeom>
            <a:solidFill>
              <a:srgbClr val="284A38"/>
            </a:solidFill>
            <a:ln/>
          </p:spPr>
          <p:txBody>
            <a:bodyPr/>
            <a:lstStyle/>
            <a:p>
              <a:endParaRPr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25880" y="448056"/>
              <a:ext cx="502920" cy="502920"/>
            </a:xfrm>
            <a:prstGeom prst="rect">
              <a:avLst/>
            </a:prstGeom>
          </p:spPr>
        </p:pic>
        <p:sp>
          <p:nvSpPr>
            <p:cNvPr id="30" name="Text 24"/>
            <p:cNvSpPr/>
            <p:nvPr/>
          </p:nvSpPr>
          <p:spPr>
            <a:xfrm>
              <a:off x="2057400" y="338328"/>
              <a:ext cx="5486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7F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sustainability.py  +  sustainability_data.json</a:t>
              </a:r>
              <a:endParaRPr lang="en-US" sz="1800" dirty="0"/>
            </a:p>
          </p:txBody>
        </p:sp>
        <p:sp>
          <p:nvSpPr>
            <p:cNvPr id="31" name="Text 25"/>
            <p:cNvSpPr/>
            <p:nvPr/>
          </p:nvSpPr>
          <p:spPr>
            <a:xfrm>
              <a:off x="2057400" y="704088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300" dirty="0">
                  <a:solidFill>
                    <a:srgbClr val="E2A8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Lookup layer + curated knowledge base</a:t>
              </a:r>
              <a:endParaRPr lang="en-US" sz="1200" dirty="0"/>
            </a:p>
          </p:txBody>
        </p:sp>
        <p:sp>
          <p:nvSpPr>
            <p:cNvPr id="32" name="Text 26"/>
            <p:cNvSpPr/>
            <p:nvPr/>
          </p:nvSpPr>
          <p:spPr>
            <a:xfrm>
              <a:off x="7635240" y="5029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FA8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Aliases, safe fallback, CO₂, values, metals, citations</a:t>
              </a:r>
              <a:endParaRPr lang="en-US" sz="1200" dirty="0"/>
            </a:p>
          </p:txBody>
        </p:sp>
      </p:grpSp>
      <p:sp>
        <p:nvSpPr>
          <p:cNvPr id="33" name="Text 2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flow:  image  →  perception JSON  →  sustainability record  →  decision dict  →  user-facing 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B8693D"/>
                </a:solidFill>
                <a:latin typeface="Aptos"/>
              </a:rPr>
              <a:t>FILE 1  /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1B2820"/>
                </a:solidFill>
                <a:latin typeface="Aptos"/>
              </a:rPr>
              <a:t>Spotware/app.py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4B5C53"/>
                </a:solidFill>
                <a:latin typeface="Aptos"/>
              </a:rPr>
              <a:t>Streamlit shell: input, state, display, export, and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693D"/>
                </a:solidFill>
                <a:latin typeface="Aptos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 dirty="0">
                <a:solidFill>
                  <a:srgbClr val="1B2820"/>
                </a:solidFill>
                <a:latin typeface="Aptos"/>
              </a:rPr>
              <a:t>Collects hardware images
</a:t>
            </a:r>
            <a:r>
              <a:rPr sz="1220" dirty="0">
                <a:solidFill>
                  <a:srgbClr val="4B5C53"/>
                </a:solidFill>
                <a:latin typeface="Aptos"/>
              </a:rPr>
              <a:t>Two input paths: file upload and webcam capture. The UI does not ask the user to manually identify the part.</a:t>
            </a:r>
          </a:p>
          <a:p>
            <a:pPr>
              <a:defRPr sz="400"/>
            </a:pPr>
            <a:r>
              <a:rPr dirty="0"/>
              <a:t> </a:t>
            </a:r>
          </a:p>
          <a:p>
            <a:r>
              <a:rPr sz="1220" b="1" dirty="0">
                <a:solidFill>
                  <a:srgbClr val="1B2820"/>
                </a:solidFill>
                <a:latin typeface="Aptos"/>
              </a:rPr>
              <a:t>Persists session state
</a:t>
            </a:r>
            <a:r>
              <a:rPr sz="1220" dirty="0">
                <a:solidFill>
                  <a:srgbClr val="4B5C53"/>
                </a:solidFill>
                <a:latin typeface="Aptos"/>
              </a:rPr>
              <a:t>Keeps the last perception, sustainability record, decision output, follow-up chat, and recent device history.</a:t>
            </a:r>
          </a:p>
          <a:p>
            <a:pPr>
              <a:defRPr sz="400"/>
            </a:pPr>
            <a:r>
              <a:rPr dirty="0"/>
              <a:t> </a:t>
            </a:r>
          </a:p>
          <a:p>
            <a:r>
              <a:rPr sz="1220" b="1" dirty="0">
                <a:solidFill>
                  <a:srgbClr val="1B2820"/>
                </a:solidFill>
                <a:latin typeface="Aptos"/>
              </a:rPr>
              <a:t>Orchestrates the pipeline
</a:t>
            </a:r>
            <a:r>
              <a:rPr sz="1220" dirty="0">
                <a:solidFill>
                  <a:srgbClr val="4B5C53"/>
                </a:solidFill>
                <a:latin typeface="Aptos"/>
              </a:rPr>
              <a:t>Runs perceive(</a:t>
            </a:r>
            <a:r>
              <a:rPr sz="1220" dirty="0" err="1">
                <a:solidFill>
                  <a:srgbClr val="4B5C53"/>
                </a:solidFill>
                <a:latin typeface="Aptos"/>
              </a:rPr>
              <a:t>image_bytes</a:t>
            </a:r>
            <a:r>
              <a:rPr sz="1220" dirty="0">
                <a:solidFill>
                  <a:srgbClr val="4B5C53"/>
                </a:solidFill>
                <a:latin typeface="Aptos"/>
              </a:rPr>
              <a:t>) → </a:t>
            </a:r>
            <a:r>
              <a:rPr sz="1220" dirty="0" err="1">
                <a:solidFill>
                  <a:srgbClr val="4B5C53"/>
                </a:solidFill>
                <a:latin typeface="Aptos"/>
              </a:rPr>
              <a:t>get_sustainability_record</a:t>
            </a:r>
            <a:r>
              <a:rPr sz="1220" dirty="0">
                <a:solidFill>
                  <a:srgbClr val="4B5C53"/>
                </a:solidFill>
                <a:latin typeface="Aptos"/>
              </a:rPr>
              <a:t>(</a:t>
            </a:r>
            <a:r>
              <a:rPr sz="1220" dirty="0" err="1">
                <a:solidFill>
                  <a:srgbClr val="4B5C53"/>
                </a:solidFill>
                <a:latin typeface="Aptos"/>
              </a:rPr>
              <a:t>device_class</a:t>
            </a:r>
            <a:r>
              <a:rPr sz="1220" dirty="0">
                <a:solidFill>
                  <a:srgbClr val="4B5C53"/>
                </a:solidFill>
                <a:latin typeface="Aptos"/>
              </a:rPr>
              <a:t>) → </a:t>
            </a:r>
            <a:r>
              <a:rPr sz="1220" dirty="0" err="1">
                <a:solidFill>
                  <a:srgbClr val="4B5C53"/>
                </a:solidFill>
                <a:latin typeface="Aptos"/>
              </a:rPr>
              <a:t>recommend_action</a:t>
            </a:r>
            <a:r>
              <a:rPr sz="1220" dirty="0">
                <a:solidFill>
                  <a:srgbClr val="4B5C53"/>
                </a:solidFill>
                <a:latin typeface="Aptos"/>
              </a:rPr>
              <a:t>(...) behind one button.</a:t>
            </a:r>
          </a:p>
          <a:p>
            <a:pPr>
              <a:defRPr sz="400"/>
            </a:pPr>
            <a:r>
              <a:rPr dirty="0"/>
              <a:t> </a:t>
            </a:r>
          </a:p>
          <a:p>
            <a:r>
              <a:rPr sz="1220" b="1" dirty="0">
                <a:solidFill>
                  <a:srgbClr val="1B2820"/>
                </a:solidFill>
                <a:latin typeface="Aptos"/>
              </a:rPr>
              <a:t>Renders the decision
</a:t>
            </a:r>
            <a:r>
              <a:rPr sz="1220" dirty="0">
                <a:solidFill>
                  <a:srgbClr val="4B5C53"/>
                </a:solidFill>
                <a:latin typeface="Aptos"/>
              </a:rPr>
              <a:t>Shows identification metrics, confidence, recommended action, impact cards, hazard warnings, rule trace, raw JSON, and a downloadable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317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2A87A"/>
                </a:solidFill>
                <a:latin typeface="Aptos"/>
              </a:rPr>
              <a:t>USER FLOW  /  STATE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697480"/>
            <a:ext cx="4434840" cy="3429000"/>
          </a:xfrm>
          <a:prstGeom prst="roundRect">
            <a:avLst/>
          </a:prstGeom>
          <a:solidFill>
            <a:srgbClr val="1B2820"/>
          </a:solidFill>
          <a:ln>
            <a:solidFill>
              <a:srgbClr val="1B2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2916936"/>
            <a:ext cx="4105656" cy="3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dirty="0" err="1">
                <a:solidFill>
                  <a:srgbClr val="F7F3EB"/>
                </a:solidFill>
                <a:latin typeface="Consolas"/>
              </a:rPr>
              <a:t>image_bytes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
   ↓
perception = perceive(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image_bytes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)
   ↓
sustainability = 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get_sustainability_record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(
    perception["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device_class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"]
)
   ↓
decision = 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recommend_action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(
    perception, sustainability
)
   ↓
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session_state.last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_* + </a:t>
            </a:r>
            <a:r>
              <a:rPr sz="1200" dirty="0" err="1">
                <a:solidFill>
                  <a:srgbClr val="F7F3EB"/>
                </a:solidFill>
                <a:latin typeface="Consolas"/>
              </a:rPr>
              <a:t>device_history</a:t>
            </a:r>
            <a:r>
              <a:rPr sz="1200" dirty="0">
                <a:solidFill>
                  <a:srgbClr val="F7F3EB"/>
                </a:solidFill>
                <a:latin typeface="Consolas"/>
              </a:rPr>
              <a:t>
   ↓
cards · trace · raw JSON · export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2  / 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perception.py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in. Strict JSON 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4864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73152" cy="4206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image bytes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path or raw bytes; sniffs MIME by magic bytes if extension is missing.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Gemini 3 Flash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hand-tuned prompt that demands a single JSON object — no markdown, no commentary.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coerces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required keys, normalizes booleans from strings, clamps confidence to [0,1].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follow-up Q&amp;A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perception + sustainability JSON pinned as system context — the model can't hallucinate facilities or prices outside the lookup 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5120640" cy="4206240"/>
          </a:xfrm>
          <a:prstGeom prst="rect">
            <a:avLst/>
          </a:prstGeom>
          <a:solidFill>
            <a:srgbClr val="1F3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CONTRACT  /  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"device_class": "GPU",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"manufacturer": "NVIDIA",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"RTX 3080",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"visible_text": ["NVIDIA","RTX 3080"],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"condition": "good",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"form_factor": "PCIe",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"generation_hint": "modern",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"data_bearing": false,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"contains_hazardous": false,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"completeness": "complete",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0.92,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"no visible damage"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3  / 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sustainability_data.json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knowledge base. 11 component categories, every number traceable.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606040" cy="54864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Embodied CO₂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per unit, sourced from manufacturer PCFs (Dell, NVIDIA, Seagate)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945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2606040" cy="54864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118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Recoverable metals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 of Cu, Au, Ag, Al, Pd, Pt, Nd per component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06040" cy="54864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ranges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[low, high] arrays — scrap, refurb-modern, refurb-legacy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219456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006840" y="2194560"/>
            <a:ext cx="2606040" cy="54864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897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Hazards &amp; 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2697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do_not_landfill, lithium_battery, data_security flags + default 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6858000" cy="2606040"/>
          </a:xfrm>
          <a:prstGeom prst="rect">
            <a:avLst/>
          </a:prstGeom>
          <a:solidFill>
            <a:srgbClr val="1F3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"gpu":  ONE RECORD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"embodied_co2_kg": 164,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"embodied_co2_source": "nvidia_h100_pcf_2024",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"recoverable_metals_g": {"copper":200,"gold":0.08,"silver":0.4,"aluminum":600},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"scrap_value_usd": [5, 14],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"refurb_value_modern_usd": [2000, 15000],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"hazard_flags": ["do_not_landfill","thermal_compound"],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"default_action": "refurbish_resell"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3794760"/>
            <a:ext cx="3749040" cy="1234440"/>
          </a:xfrm>
          <a:prstGeom prst="rect">
            <a:avLst/>
          </a:prstGeom>
          <a:solidFill>
            <a:srgbClr val="EADF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95528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ranges, not midpoints?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4251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H100 sells for $15k+ used. A GTX 1060 sells for $50. A midpoint hides the signal — the spread IS the signal.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5166360"/>
            <a:ext cx="3749040" cy="1234440"/>
          </a:xfrm>
          <a:prstGeom prst="rect">
            <a:avLst/>
          </a:prstGeom>
          <a:solidFill>
            <a:srgbClr val="EADF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55280" y="5257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Always-safe fallback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5623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"undetected" record returns nulls + manual_review action — never suggests landfill, never invents numbers.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4  / 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sources.md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you can defend in front of an auditor.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NUMBER HAS A TAG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"embodied_co2_source"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"nvidia_h100_pcf_2024"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35204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4023360"/>
            <a:ext cx="4754880" cy="2194560"/>
          </a:xfrm>
          <a:prstGeom prst="rect">
            <a:avLst/>
          </a:prstGeom>
          <a:solidFill>
            <a:srgbClr val="EADF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[nvidia_h100_pcf_2024]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4526280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NVIDIA, "Product Carbon Footprint for H100 baseboard." 1,312 kgCO₂e cradle-to-gate; ~164 kgCO₂e per card. Memory 42%, ICs 25%, thermal 18%. WSP, ISO 14067 conformant.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SERIOUS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889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not just citations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0" y="3108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how component-level numbers were decomposed from system-level LCAs (NVIDIA's 42/25/18 split, SCARIF model weights as cross-check).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0690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under disagreement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0" y="43891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Seagate vs Pure/Solidigm/Ocient SSD-carbon dispute — picks the lower credible figure and notes the controversy. No silent rounding.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5349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 its own corrections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5669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draft mis-cited USGS source for HDD rare-earth content; an earlier HDD platinum value (0.02g) was revised down to 0.01g. Both flagged inline.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5  / 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sustainability.py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 layer that makes the data safe to consume.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864" cy="777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normalize_component_name()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2240280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strip, swap hyphens for underscores, apply alias table (graphics_card → gpu, processor → cpu, NIC → network_card). Anything unrecognized falls back to "undetected".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54864" cy="777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30815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get_sustainability_record()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081528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point. ALWAYS returns a record — no KeyError path. Deep-copies so callers can mutate safely. Tags the result with component_type so downstream code knows what it actually got.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54864" cy="777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392277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component_exists()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922776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check: did the name resolve to a real entry, or did it fall back? Used by the UI to show a different visual state for unknown items.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4718304"/>
            <a:ext cx="54864" cy="777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476402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list_supported_components()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764024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 of canonical keys, fallback excluded. Drives autocomplete, tests, and documentation.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559552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5559552"/>
            <a:ext cx="54864" cy="777240"/>
          </a:xfrm>
          <a:prstGeom prst="rect">
            <a:avLst/>
          </a:prstGeom>
          <a:solidFill>
            <a:srgbClr val="3D6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8680" y="56052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get_data_sources()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5605272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just the three source-tag fields. The bridge that lets the UI show citations from sources.md alongside every number.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B8693D"/>
                </a:solidFill>
                <a:latin typeface="Aptos"/>
              </a:rPr>
              <a:t>FILE 6  /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>
                <a:solidFill>
                  <a:srgbClr val="1B2820"/>
                </a:solidFill>
                <a:latin typeface="Aptos"/>
              </a:rPr>
              <a:t>decision.py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 dirty="0">
                <a:solidFill>
                  <a:srgbClr val="4B5C53"/>
                </a:solidFill>
                <a:latin typeface="Aptos"/>
              </a:rPr>
              <a:t>Turns perception + sustainability into an actionable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693D"/>
                </a:solidFill>
                <a:latin typeface="Aptos"/>
              </a:rPr>
              <a:t>WHY IT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4754880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B2820"/>
                </a:solidFill>
                <a:latin typeface="Aptos"/>
              </a:rPr>
              <a:t>Starts with data default
</a:t>
            </a:r>
            <a:r>
              <a:rPr sz="1200" dirty="0">
                <a:solidFill>
                  <a:srgbClr val="4B5C53"/>
                </a:solidFill>
                <a:latin typeface="Aptos"/>
              </a:rPr>
              <a:t>Uses </a:t>
            </a:r>
            <a:r>
              <a:rPr sz="1200" dirty="0" err="1">
                <a:solidFill>
                  <a:srgbClr val="4B5C53"/>
                </a:solidFill>
                <a:latin typeface="Aptos"/>
              </a:rPr>
              <a:t>default_action</a:t>
            </a:r>
            <a:r>
              <a:rPr sz="1200" dirty="0">
                <a:solidFill>
                  <a:srgbClr val="4B5C53"/>
                </a:solidFill>
                <a:latin typeface="Aptos"/>
              </a:rPr>
              <a:t> from </a:t>
            </a:r>
            <a:r>
              <a:rPr sz="1200" dirty="0" err="1">
                <a:solidFill>
                  <a:srgbClr val="4B5C53"/>
                </a:solidFill>
                <a:latin typeface="Aptos"/>
              </a:rPr>
              <a:t>sustainability_data.json</a:t>
            </a:r>
            <a:r>
              <a:rPr sz="1200" dirty="0">
                <a:solidFill>
                  <a:srgbClr val="4B5C53"/>
                </a:solidFill>
                <a:latin typeface="Aptos"/>
              </a:rPr>
              <a:t> as the first candidate action.</a:t>
            </a:r>
          </a:p>
          <a:p>
            <a:pPr>
              <a:defRPr sz="400"/>
            </a:pPr>
            <a:r>
              <a:rPr sz="1200" dirty="0"/>
              <a:t> </a:t>
            </a:r>
          </a:p>
          <a:p>
            <a:r>
              <a:rPr sz="1200" b="1" dirty="0">
                <a:solidFill>
                  <a:srgbClr val="1B2820"/>
                </a:solidFill>
                <a:latin typeface="Aptos"/>
              </a:rPr>
              <a:t>Applies ordered safety rules
</a:t>
            </a:r>
            <a:r>
              <a:rPr sz="1200" dirty="0">
                <a:solidFill>
                  <a:srgbClr val="4B5C53"/>
                </a:solidFill>
                <a:latin typeface="Aptos"/>
              </a:rPr>
              <a:t>Low confidence, undetected components, hard hazards, VLM hazard flags, damaged condition, missing major parts, and data-bearing devices can override the default.</a:t>
            </a:r>
          </a:p>
          <a:p>
            <a:pPr>
              <a:defRPr sz="400"/>
            </a:pPr>
            <a:r>
              <a:rPr sz="1200" dirty="0"/>
              <a:t> </a:t>
            </a:r>
          </a:p>
          <a:p>
            <a:r>
              <a:rPr sz="1200" b="1" dirty="0">
                <a:solidFill>
                  <a:srgbClr val="1B2820"/>
                </a:solidFill>
                <a:latin typeface="Aptos"/>
              </a:rPr>
              <a:t>Computes impact fields
</a:t>
            </a:r>
            <a:r>
              <a:rPr sz="1200" dirty="0">
                <a:solidFill>
                  <a:srgbClr val="4B5C53"/>
                </a:solidFill>
                <a:latin typeface="Aptos"/>
              </a:rPr>
              <a:t>Returns CO₂ avoided, value in USD, total recoverable metals, a metals breakdown, and source tags.</a:t>
            </a:r>
          </a:p>
          <a:p>
            <a:pPr>
              <a:defRPr sz="400"/>
            </a:pPr>
            <a:r>
              <a:rPr sz="1200" dirty="0"/>
              <a:t> </a:t>
            </a:r>
          </a:p>
          <a:p>
            <a:r>
              <a:rPr sz="1200" b="1" dirty="0">
                <a:solidFill>
                  <a:srgbClr val="1B2820"/>
                </a:solidFill>
                <a:latin typeface="Aptos"/>
              </a:rPr>
              <a:t>Explains itself
</a:t>
            </a:r>
            <a:r>
              <a:rPr sz="1200" dirty="0">
                <a:solidFill>
                  <a:srgbClr val="4B5C53"/>
                </a:solidFill>
                <a:latin typeface="Aptos"/>
              </a:rPr>
              <a:t>Adds a </a:t>
            </a:r>
            <a:r>
              <a:rPr sz="1200" dirty="0" err="1">
                <a:solidFill>
                  <a:srgbClr val="4B5C53"/>
                </a:solidFill>
                <a:latin typeface="Aptos"/>
              </a:rPr>
              <a:t>rule_trace</a:t>
            </a:r>
            <a:r>
              <a:rPr sz="1200" dirty="0">
                <a:solidFill>
                  <a:srgbClr val="4B5C53"/>
                </a:solidFill>
                <a:latin typeface="Aptos"/>
              </a:rPr>
              <a:t> so the UI can show exactly why the final recommendation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402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2A87A"/>
                </a:solidFill>
                <a:latin typeface="Aptos"/>
              </a:rPr>
              <a:t>OUTPUT CONTRACT  / 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06040"/>
            <a:ext cx="4800600" cy="3474720"/>
          </a:xfrm>
          <a:prstGeom prst="roundRect">
            <a:avLst/>
          </a:prstGeom>
          <a:solidFill>
            <a:srgbClr val="1B2820"/>
          </a:solidFill>
          <a:ln>
            <a:solidFill>
              <a:srgbClr val="1B2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886363"/>
            <a:ext cx="4471416" cy="27084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>
                <a:solidFill>
                  <a:srgbClr val="F7F3EB"/>
                </a:solidFill>
                <a:latin typeface="Consolas"/>
              </a:rPr>
              <a:t>{
  "action": "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secure_wipe_then_refurbish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",
  "label": "Secure wipe → refurbish",
  "color": "blue",
  "reason": "Data-bearing SSD in good condition. Mandatory wipe before resale.",
  "co2_avoided_kg": 20,
  "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value_usd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": 65,
  "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metals_total_g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": 62.1,
  "source": "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ssd_carbon_sources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;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resale_sources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",
  "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rule_trace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": [
    "Starting action from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ssd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 default: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refurbish_resell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",
    "R7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data_bearing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=true on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refurbish_resell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 → </a:t>
            </a:r>
            <a:r>
              <a:rPr sz="1100" dirty="0" err="1">
                <a:solidFill>
                  <a:srgbClr val="F7F3EB"/>
                </a:solidFill>
                <a:latin typeface="Consolas"/>
              </a:rPr>
              <a:t>secure_wipe_then_refurbish</a:t>
            </a:r>
            <a:r>
              <a:rPr sz="1100" dirty="0">
                <a:solidFill>
                  <a:srgbClr val="F7F3EB"/>
                </a:solidFill>
                <a:latin typeface="Consolas"/>
              </a:rPr>
              <a:t>"
  ]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86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 &amp; 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hackathon. Architected for a recycling depot.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0"/>
            <a:ext cx="3611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Individuals &amp; repair cafés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in hand, old GPU on the desk. Should it go to a refurbisher or a recycler? Get a defensible answer in 5 seconds.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2011680"/>
            <a:ext cx="3611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Datacenter decommissioning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handling thousands of drives need an audit trail. Spotware logs identification + source tags per item — that IS the compliance record.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83880" y="2011680"/>
            <a:ext cx="3611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94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Municipal e-waste programs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41248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B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decision trees printed on laminated sheets with a camera. The data layer can be swapped per region without touching app code.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97680"/>
            <a:ext cx="10881360" cy="2103120"/>
          </a:xfrm>
          <a:prstGeom prst="rect">
            <a:avLst/>
          </a:prstGeom>
          <a:solidFill>
            <a:srgbClr val="284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8686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SCALES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product.  </a:t>
            </a: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component category by editing JSON + sources.md. No code changes.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1792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is replaceable.  </a:t>
            </a: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today, a fine-tuned local model tomorrow. Same JSON contract.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868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 = strict tests.  test_decision.py covers the decision rules; perception's required-key set is enforced at the boundary.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Localizable.  </a:t>
            </a:r>
            <a:r>
              <a:rPr lang="en-US" sz="1200" dirty="0">
                <a:solidFill>
                  <a:srgbClr val="8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price ranges and disposal-action vocab swap in via a different JSON file.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128016" cy="128016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1371600"/>
            <a:ext cx="91440" cy="91440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89920" y="2194560"/>
            <a:ext cx="146304" cy="146304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0" y="3200400"/>
            <a:ext cx="100584" cy="100584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332720" y="4023360"/>
            <a:ext cx="118872" cy="118872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0" y="5029200"/>
            <a:ext cx="91440" cy="91440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607040" y="5760720"/>
            <a:ext cx="109728" cy="109728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0" y="1645920"/>
            <a:ext cx="82296" cy="82296"/>
          </a:xfrm>
          <a:prstGeom prst="ellipse">
            <a:avLst/>
          </a:prstGeom>
          <a:solidFill>
            <a:srgbClr val="3D6B4D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rgbClr val="E2A87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7F3EB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to dissertation-scale.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" y="2606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E2A8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extensions — all grounded in the underlying dissertation work.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869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5448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7F3EB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Custom vision pipeline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8F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foundation-model VLM with a YOLO detector and ConvNeXt classifier specialized on data-center hardware. Faster inference, edge-case detection, bounding boxes for cluttered scenes.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4434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869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544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7F3EB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Text perception branch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0" y="4526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8F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pipeline of scene-text detection and recognition resolves visually ambiguous cases by reading printed model numbers, FCC IDs, and brand logos directly from the device.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008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869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55448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7F3EB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Continual learning at scale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8FA88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 crawled dataset of hardware photos from manufacturer pages, eBay listings, and decommissioning communities, unified under the UNU-KEYS e-waste taxonomy.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40080" y="6126480"/>
            <a:ext cx="365760" cy="36576"/>
          </a:xfrm>
          <a:prstGeom prst="rect">
            <a:avLst/>
          </a:prstGeom>
          <a:solidFill>
            <a:srgbClr val="B869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E2A8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Spotware today is a working prototype. Spotware tomorrow is a research-grade system.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2439</Words>
  <Application>Microsoft Macintosh PowerPoint</Application>
  <PresentationFormat>Widescreen</PresentationFormat>
  <Paragraphs>212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Spotware — Hardware Sustainability Assistant</dc:title>
  <dc:subject>PptxGenJS Presentation</dc:subject>
  <dc:creator>Spotware Team</dc:creator>
  <cp:lastModifiedBy>Nader Lobandi</cp:lastModifiedBy>
  <cp:revision>9</cp:revision>
  <dcterms:created xsi:type="dcterms:W3CDTF">2026-05-10T16:20:32Z</dcterms:created>
  <dcterms:modified xsi:type="dcterms:W3CDTF">2026-05-10T18:55:32Z</dcterms:modified>
</cp:coreProperties>
</file>